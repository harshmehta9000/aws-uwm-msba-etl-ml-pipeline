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17" r:id="rId5"/>
    <p:sldId id="308" r:id="rId6"/>
    <p:sldId id="318" r:id="rId7"/>
    <p:sldId id="334" r:id="rId8"/>
    <p:sldId id="319" r:id="rId9"/>
    <p:sldId id="321" r:id="rId10"/>
    <p:sldId id="320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3" r:id="rId21"/>
    <p:sldId id="331" r:id="rId22"/>
    <p:sldId id="309" r:id="rId23"/>
    <p:sldId id="332" r:id="rId24"/>
    <p:sldId id="310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94" autoAdjust="0"/>
    <p:restoredTop sz="95405" autoAdjust="0"/>
  </p:normalViewPr>
  <p:slideViewPr>
    <p:cSldViewPr snapToGrid="0">
      <p:cViewPr varScale="1">
        <p:scale>
          <a:sx n="59" d="100"/>
          <a:sy n="59" d="100"/>
        </p:scale>
        <p:origin x="808" y="5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10/5/2024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5612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127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3523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6318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034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9952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4071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701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26129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8791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289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1897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5398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3002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0828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9742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1466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810" y="914400"/>
            <a:ext cx="10360152" cy="5029200"/>
          </a:xfrm>
        </p:spPr>
        <p:txBody>
          <a:bodyPr anchor="ctr"/>
          <a:lstStyle/>
          <a:p>
            <a:r>
              <a:rPr lang="en-US" sz="3600" dirty="0"/>
              <a:t>Cloud-Native Data Architecture: Streamlining MSBA Financial Group’s Data Operations and Predicting Bankruptcy Risk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By Harsh Mehta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0"/>
            <a:ext cx="11887201" cy="6629400"/>
          </a:xfrm>
        </p:spPr>
        <p:txBody>
          <a:bodyPr/>
          <a:lstStyle/>
          <a:p>
            <a:pPr algn="ctr"/>
            <a:r>
              <a:rPr lang="en-US" sz="1800" dirty="0"/>
              <a:t>Goal of the project :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* Develop a cloud-native data architecture in AWS that centralizes and optimizes MSBA Financial Group's data operations.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* Implement a scalable data lake using AWS S3 to efficiently store and manage diverse incoming data.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* Design and execute ETL processes using AWS Glue to transform raw data into analysis-ready formats.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* Create a centralized data warehouse cluster in AWS Redshift.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* Leverage AWS </a:t>
            </a:r>
            <a:r>
              <a:rPr lang="en-US" sz="1800" dirty="0" err="1"/>
              <a:t>SageMaker</a:t>
            </a:r>
            <a:r>
              <a:rPr lang="en-US" sz="1800" dirty="0"/>
              <a:t> Canvas to perform exploratory data analysis and develop a machine learning model for bankruptcy prediction.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* </a:t>
            </a:r>
            <a:r>
              <a:rPr lang="en-US" sz="2000" dirty="0"/>
              <a:t>Generate actionable insights to guide investment decisions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ata architecture&#10;&#10;Description automatically generated">
            <a:extLst>
              <a:ext uri="{FF2B5EF4-FFF2-40B4-BE49-F238E27FC236}">
                <a16:creationId xmlns:a16="http://schemas.microsoft.com/office/drawing/2014/main" id="{1E61FD46-01A7-0280-22B8-4D04C3B3F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20" y="198304"/>
            <a:ext cx="11534661" cy="629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9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architecture&#10;&#10;Description automatically generated with medium confidence">
            <a:extLst>
              <a:ext uri="{FF2B5EF4-FFF2-40B4-BE49-F238E27FC236}">
                <a16:creationId xmlns:a16="http://schemas.microsoft.com/office/drawing/2014/main" id="{8EAFC6D9-B34F-EAAA-F1B2-538651860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829"/>
            <a:ext cx="12192000" cy="6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2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7453647D-F5BB-2D8D-5DFB-6B3ACF7D4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2" y="132202"/>
            <a:ext cx="11986351" cy="662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9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EA1732D-8C97-14A4-EFDA-B644817D2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2" y="261257"/>
            <a:ext cx="11778343" cy="648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3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01156F8-41A7-13F1-152C-E4A0D9540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201"/>
            <a:ext cx="11811000" cy="668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8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ep&#10;&#10;Description automatically generated">
            <a:extLst>
              <a:ext uri="{FF2B5EF4-FFF2-40B4-BE49-F238E27FC236}">
                <a16:creationId xmlns:a16="http://schemas.microsoft.com/office/drawing/2014/main" id="{B53CA54A-6353-167E-01C6-3DF32E147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6" y="195943"/>
            <a:ext cx="11887200" cy="6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4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EE03E685-F510-5D18-BCAE-3D2761D67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1514"/>
            <a:ext cx="119634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24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architecture&#10;&#10;Description automatically generated">
            <a:extLst>
              <a:ext uri="{FF2B5EF4-FFF2-40B4-BE49-F238E27FC236}">
                <a16:creationId xmlns:a16="http://schemas.microsoft.com/office/drawing/2014/main" id="{BDCA886B-8BFD-985F-2956-6CC1C6FAD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9" y="195942"/>
            <a:ext cx="11789228" cy="64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1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1AB9368-8866-2F35-1AA8-1C0080AB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6" y="174170"/>
            <a:ext cx="11941628" cy="659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63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E537F72-728F-FF6B-3A15-C6602CB97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0" y="108857"/>
            <a:ext cx="11789228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0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82CBE971-065A-DDCA-97F6-7E418EAB2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6" y="119742"/>
            <a:ext cx="11941628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58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architecture&#10;&#10;Description automatically generated">
            <a:extLst>
              <a:ext uri="{FF2B5EF4-FFF2-40B4-BE49-F238E27FC236}">
                <a16:creationId xmlns:a16="http://schemas.microsoft.com/office/drawing/2014/main" id="{71FED486-8F75-8E3A-49E9-E7AD52902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6" y="174171"/>
            <a:ext cx="11930744" cy="641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56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774060D-3090-D78E-11FC-226BE9F84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" y="130629"/>
            <a:ext cx="11952514" cy="66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33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F554323-F866-FD41-4F05-4D42119DD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6171"/>
            <a:ext cx="12192000" cy="5921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8D88D7-50DC-C41B-3DB0-3F34152CB5B1}"/>
              </a:ext>
            </a:extLst>
          </p:cNvPr>
          <p:cNvSpPr txBox="1"/>
          <p:nvPr/>
        </p:nvSpPr>
        <p:spPr>
          <a:xfrm>
            <a:off x="348343" y="304800"/>
            <a:ext cx="11005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EDA Insights 1 :</a:t>
            </a:r>
          </a:p>
        </p:txBody>
      </p:sp>
    </p:spTree>
    <p:extLst>
      <p:ext uri="{BB962C8B-B14F-4D97-AF65-F5344CB8AC3E}">
        <p14:creationId xmlns:p14="http://schemas.microsoft.com/office/powerpoint/2010/main" val="970002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5E68569-4BD6-F784-7F75-E069E864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12192000" cy="56932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6ADDBB-5249-542A-32BF-7BDF58896593}"/>
              </a:ext>
            </a:extLst>
          </p:cNvPr>
          <p:cNvSpPr txBox="1"/>
          <p:nvPr/>
        </p:nvSpPr>
        <p:spPr>
          <a:xfrm>
            <a:off x="522514" y="283029"/>
            <a:ext cx="10428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EDA Insights 2 :</a:t>
            </a:r>
          </a:p>
        </p:txBody>
      </p:sp>
    </p:spTree>
    <p:extLst>
      <p:ext uri="{BB962C8B-B14F-4D97-AF65-F5344CB8AC3E}">
        <p14:creationId xmlns:p14="http://schemas.microsoft.com/office/powerpoint/2010/main" val="924835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4CA5322F-0BF8-0191-0DFA-A32C358A4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4143"/>
            <a:ext cx="12104914" cy="5823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7F4588-F15A-F44C-6076-6A2C3A4D039E}"/>
              </a:ext>
            </a:extLst>
          </p:cNvPr>
          <p:cNvSpPr txBox="1"/>
          <p:nvPr/>
        </p:nvSpPr>
        <p:spPr>
          <a:xfrm>
            <a:off x="402771" y="239486"/>
            <a:ext cx="11223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EDA Insights 3 :</a:t>
            </a:r>
          </a:p>
        </p:txBody>
      </p:sp>
    </p:spTree>
    <p:extLst>
      <p:ext uri="{BB962C8B-B14F-4D97-AF65-F5344CB8AC3E}">
        <p14:creationId xmlns:p14="http://schemas.microsoft.com/office/powerpoint/2010/main" val="198102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ML Model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9" name="Picture 8" descr="A light bulb on a table with graphs and charts&#10;&#10;Description automatically generated">
            <a:extLst>
              <a:ext uri="{FF2B5EF4-FFF2-40B4-BE49-F238E27FC236}">
                <a16:creationId xmlns:a16="http://schemas.microsoft.com/office/drawing/2014/main" id="{A292527E-4896-236F-F02A-9DB7809E2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0" y="1828800"/>
            <a:ext cx="9710057" cy="353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03A180F-4FBA-6F37-891D-90C872931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624" r="982" b="29949"/>
          <a:stretch/>
        </p:blipFill>
        <p:spPr>
          <a:xfrm>
            <a:off x="43543" y="1480458"/>
            <a:ext cx="12104914" cy="5236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6D958-5A0E-8A88-1A07-329687E2E6E9}"/>
              </a:ext>
            </a:extLst>
          </p:cNvPr>
          <p:cNvSpPr txBox="1"/>
          <p:nvPr/>
        </p:nvSpPr>
        <p:spPr>
          <a:xfrm>
            <a:off x="413657" y="315686"/>
            <a:ext cx="11321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Insights from Prediction :</a:t>
            </a:r>
          </a:p>
        </p:txBody>
      </p:sp>
    </p:spTree>
    <p:extLst>
      <p:ext uri="{BB962C8B-B14F-4D97-AF65-F5344CB8AC3E}">
        <p14:creationId xmlns:p14="http://schemas.microsoft.com/office/powerpoint/2010/main" val="1916104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" y="141514"/>
            <a:ext cx="10360152" cy="914400"/>
          </a:xfrm>
        </p:spPr>
        <p:txBody>
          <a:bodyPr/>
          <a:lstStyle/>
          <a:p>
            <a:r>
              <a:rPr lang="en-US" dirty="0"/>
              <a:t>INVESTMENT INSIGHTS</a:t>
            </a: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AA00081-6661-B7F5-522F-103893851F2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6784" y="968829"/>
            <a:ext cx="11590673" cy="4321629"/>
          </a:xfrm>
        </p:spPr>
        <p:txBody>
          <a:bodyPr>
            <a:noAutofit/>
          </a:bodyPr>
          <a:lstStyle/>
          <a:p>
            <a:r>
              <a:rPr lang="en-US" sz="1600" dirty="0">
                <a:latin typeface="+mj-lt"/>
              </a:rPr>
              <a:t>High-Risk Alert: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Western Corp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Design Solutions ⚠️ These companies show elevated bankruptcy risk. Avoid for long-term investment.</a:t>
            </a:r>
            <a:br>
              <a:rPr lang="en-US" sz="1600" dirty="0">
                <a:latin typeface="+mj-lt"/>
              </a:rPr>
            </a:br>
            <a:br>
              <a:rPr lang="en-US" sz="1600" dirty="0">
                <a:latin typeface="+mj-lt"/>
              </a:rPr>
            </a:br>
            <a:br>
              <a:rPr lang="en-US" sz="1600" dirty="0">
                <a:latin typeface="+mj-lt"/>
              </a:rPr>
            </a:b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Recommended Portfolio:</a:t>
            </a:r>
          </a:p>
          <a:p>
            <a:pPr>
              <a:buFont typeface="+mj-lt"/>
              <a:buAutoNum type="arabicPeriod"/>
            </a:pPr>
            <a:r>
              <a:rPr lang="en-US" sz="1600" dirty="0" err="1">
                <a:latin typeface="+mj-lt"/>
              </a:rPr>
              <a:t>Innocore</a:t>
            </a: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dirty="0" err="1">
                <a:latin typeface="+mj-lt"/>
              </a:rPr>
              <a:t>Pharmasolve</a:t>
            </a: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dirty="0" err="1">
                <a:latin typeface="+mj-lt"/>
              </a:rPr>
              <a:t>Ninetech</a:t>
            </a: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Songster Inc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Rogers and Sons</a:t>
            </a:r>
          </a:p>
          <a:p>
            <a:pPr>
              <a:buFont typeface="+mj-lt"/>
              <a:buAutoNum type="arabicPeriod"/>
            </a:pPr>
            <a:r>
              <a:rPr lang="en-US" sz="1600" dirty="0" err="1">
                <a:latin typeface="+mj-lt"/>
              </a:rPr>
              <a:t>Hallandall</a:t>
            </a:r>
            <a:r>
              <a:rPr lang="en-US" sz="1600" dirty="0">
                <a:latin typeface="+mj-lt"/>
              </a:rPr>
              <a:t> Ag.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Foster &amp; Kruse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+mj-lt"/>
              </a:rPr>
              <a:t>Highwood &amp; Hart</a:t>
            </a:r>
          </a:p>
          <a:p>
            <a:r>
              <a:rPr lang="en-US" sz="1600" dirty="0">
                <a:latin typeface="+mj-lt"/>
              </a:rPr>
              <a:t>Key Action: ✅ Focus on these 8 companies for a balanced, lower-risk investment strategy. 🔍 Continuously monitor financial health and market conditions.</a:t>
            </a:r>
          </a:p>
          <a:p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Presented by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Harsh Mehta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264</Words>
  <Application>Microsoft Office PowerPoint</Application>
  <PresentationFormat>Widescreen</PresentationFormat>
  <Paragraphs>47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Gill Sans Nova Light</vt:lpstr>
      <vt:lpstr>Sagona Book</vt:lpstr>
      <vt:lpstr>Custom</vt:lpstr>
      <vt:lpstr>Cloud-Native Data Architecture: Streamlining MSBA Financial Group’s Data Operations and Predicting Bankruptcy Risk   By Harsh Mehta</vt:lpstr>
      <vt:lpstr>Goal of the project :     * Develop a cloud-native data architecture in AWS that centralizes and optimizes MSBA Financial Group's data operations.   * Implement a scalable data lake using AWS S3 to efficiently store and manage diverse incoming data.   * Design and execute ETL processes using AWS Glue to transform raw data into analysis-ready formats.   * Create a centralized data warehouse cluster in AWS Redshift.   * Leverage AWS SageMaker Canvas to perform exploratory data analysis and develop a machine learning model for bankruptcy prediction.    * Generate actionable insights to guide investment decisions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from ML Model </vt:lpstr>
      <vt:lpstr>PowerPoint Presentation</vt:lpstr>
      <vt:lpstr>INVESTMENT INSIGHTS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2023-12-12T20:05:16Z</dcterms:created>
  <dcterms:modified xsi:type="dcterms:W3CDTF">2024-10-06T20:52:41Z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